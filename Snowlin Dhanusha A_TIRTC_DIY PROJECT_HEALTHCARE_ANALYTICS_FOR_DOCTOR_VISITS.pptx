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46"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51" d="100"/>
          <a:sy n="51" d="100"/>
        </p:scale>
        <p:origin x="816" y="4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snowlindhanusha/Healthcare-Analytics-for-Doctor-Visits/" TargetMode="External"/><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37450"/>
            <a:ext cx="4399896" cy="446722"/>
          </a:xfrm>
        </p:spPr>
        <p:txBody>
          <a:bodyPr>
            <a:normAutofit/>
          </a:bodyPr>
          <a:lstStyle/>
          <a:p>
            <a:pPr algn="r"/>
            <a:r>
              <a:rPr lang="en-US" dirty="0">
                <a:solidFill>
                  <a:schemeClr val="tx1"/>
                </a:solidFill>
              </a:rPr>
              <a:t>Student Name : </a:t>
            </a:r>
            <a:r>
              <a:rPr lang="en-US" b="0" dirty="0">
                <a:solidFill>
                  <a:schemeClr val="tx1"/>
                </a:solidFill>
              </a:rPr>
              <a:t>Snowlin Dhanusha A</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794001"/>
            <a:ext cx="7607338" cy="743448"/>
          </a:xfrm>
        </p:spPr>
        <p:txBody>
          <a:bodyPr>
            <a:normAutofit fontScale="90000"/>
          </a:bodyPr>
          <a:lstStyle/>
          <a:p>
            <a:r>
              <a:rPr lang="en-US" sz="3200" dirty="0"/>
              <a:t>Healthcare Analytics For Doctor Visit TIRTC</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E2E25614-35B6-29B4-AA94-FA452CF41A39}"/>
              </a:ext>
            </a:extLst>
          </p:cNvPr>
          <p:cNvSpPr txBox="1"/>
          <p:nvPr/>
        </p:nvSpPr>
        <p:spPr>
          <a:xfrm>
            <a:off x="741783" y="3984172"/>
            <a:ext cx="8056983" cy="400110"/>
          </a:xfrm>
          <a:prstGeom prst="rect">
            <a:avLst/>
          </a:prstGeom>
          <a:noFill/>
        </p:spPr>
        <p:txBody>
          <a:bodyPr wrap="square">
            <a:spAutoFit/>
          </a:bodyPr>
          <a:lstStyle/>
          <a:p>
            <a:r>
              <a:rPr lang="en-US" sz="2000" b="1" dirty="0">
                <a:solidFill>
                  <a:schemeClr val="tx1"/>
                </a:solidFill>
              </a:rPr>
              <a:t>College Name : </a:t>
            </a:r>
            <a:r>
              <a:rPr lang="en-US" sz="2000" b="0" dirty="0">
                <a:solidFill>
                  <a:schemeClr val="tx1"/>
                </a:solidFill>
              </a:rPr>
              <a:t>Loyola-ICAM College of Engineering and Technology</a:t>
            </a:r>
            <a:endParaRPr lang="en-IN" dirty="0"/>
          </a:p>
        </p:txBody>
      </p:sp>
      <p:sp>
        <p:nvSpPr>
          <p:cNvPr id="8" name="TextBox 7">
            <a:extLst>
              <a:ext uri="{FF2B5EF4-FFF2-40B4-BE49-F238E27FC236}">
                <a16:creationId xmlns:a16="http://schemas.microsoft.com/office/drawing/2014/main" id="{EEAB0716-9BDC-F164-72B0-8DF9C42B7CAA}"/>
              </a:ext>
            </a:extLst>
          </p:cNvPr>
          <p:cNvSpPr txBox="1"/>
          <p:nvPr/>
        </p:nvSpPr>
        <p:spPr>
          <a:xfrm>
            <a:off x="741783" y="4392466"/>
            <a:ext cx="6102220" cy="400110"/>
          </a:xfrm>
          <a:prstGeom prst="rect">
            <a:avLst/>
          </a:prstGeom>
          <a:noFill/>
        </p:spPr>
        <p:txBody>
          <a:bodyPr wrap="square">
            <a:spAutoFit/>
          </a:bodyPr>
          <a:lstStyle/>
          <a:p>
            <a:r>
              <a:rPr lang="en-US" sz="2000" b="1" dirty="0">
                <a:solidFill>
                  <a:schemeClr val="tx1"/>
                </a:solidFill>
              </a:rPr>
              <a:t>AICTE STU ID </a:t>
            </a:r>
            <a:r>
              <a:rPr lang="en-US" sz="2000" b="1" dirty="0"/>
              <a:t>: </a:t>
            </a:r>
            <a:r>
              <a:rPr lang="en-US" sz="2000" dirty="0"/>
              <a:t>STU69eb655e5fc4a1777034590</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92500" lnSpcReduction="10000"/>
          </a:bodyPr>
          <a:lstStyle/>
          <a:p>
            <a:pPr>
              <a:lnSpc>
                <a:spcPct val="100000"/>
              </a:lnSpc>
            </a:pPr>
            <a:r>
              <a:rPr lang="en-IN" sz="2800" dirty="0"/>
              <a:t>Some people visit a doctor many times, while most never visit at all. Healthcare providers need to know who visits doctors, how often, and why. Without this understanding, it is hard to plan capacity or to support the people with the greatest need.</a:t>
            </a:r>
          </a:p>
          <a:p>
            <a:pPr>
              <a:lnSpc>
                <a:spcPct val="100000"/>
              </a:lnSpc>
            </a:pPr>
            <a:r>
              <a:rPr lang="en-IN" sz="2800" dirty="0"/>
              <a:t>"Why do some people visit a doctor more often than others?"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76423" y="450649"/>
            <a:ext cx="10415038" cy="830997"/>
          </a:xfrm>
        </p:spPr>
        <p:txBody>
          <a:bodyPr>
            <a:normAutofit fontScale="90000"/>
          </a:bodyPr>
          <a:lstStyle/>
          <a:p>
            <a:pPr lvl="0"/>
            <a:r>
              <a:rPr lang="en-GB" sz="4400" dirty="0"/>
              <a:t>Project Description</a:t>
            </a:r>
            <a:br>
              <a:rPr lang="en-GB" sz="1000" dirty="0"/>
            </a:br>
            <a:br>
              <a:rPr lang="en-GB" sz="4400" dirty="0"/>
            </a:br>
            <a:r>
              <a:rPr lang="en-IN" sz="2400" dirty="0"/>
              <a:t>Data:</a:t>
            </a:r>
            <a:r>
              <a:rPr lang="en-IN" sz="2400" b="0" dirty="0"/>
              <a:t> survey of 5,190 people with 12 variables and no missing values</a:t>
            </a:r>
            <a:br>
              <a:rPr lang="en-IN" sz="2400" b="0" dirty="0"/>
            </a:br>
            <a:r>
              <a:rPr lang="en-IN" sz="2400" dirty="0"/>
              <a:t>Target:</a:t>
            </a:r>
            <a:r>
              <a:rPr lang="en-IN" sz="2400" b="0" dirty="0"/>
              <a:t> number of doctor visits in a 2-week period (0 to 9)</a:t>
            </a:r>
            <a:br>
              <a:rPr lang="en-IN" sz="2400" b="0" dirty="0"/>
            </a:br>
            <a:r>
              <a:rPr lang="en-IN" sz="2400" dirty="0"/>
              <a:t>Factors studied: </a:t>
            </a:r>
            <a:br>
              <a:rPr lang="en-IN" sz="2400" b="0" dirty="0"/>
            </a:br>
            <a:r>
              <a:rPr lang="en-IN" sz="2400" dirty="0"/>
              <a:t>Demographics: </a:t>
            </a:r>
            <a:r>
              <a:rPr lang="en-IN" sz="2400" b="0" dirty="0"/>
              <a:t>age, gender, income</a:t>
            </a:r>
            <a:br>
              <a:rPr lang="en-IN" sz="2400" b="0" dirty="0"/>
            </a:br>
            <a:r>
              <a:rPr lang="en-IN" sz="2400" dirty="0"/>
              <a:t>Health status: </a:t>
            </a:r>
            <a:r>
              <a:rPr lang="en-IN" sz="2400" b="0" dirty="0"/>
              <a:t>illness count, reduced-activity days, health score</a:t>
            </a:r>
            <a:br>
              <a:rPr lang="en-IN" sz="2400" b="0" dirty="0"/>
            </a:br>
            <a:r>
              <a:rPr lang="en-IN" sz="2400" dirty="0"/>
              <a:t>Chronic conditions: </a:t>
            </a:r>
            <a:r>
              <a:rPr lang="en-IN" sz="2400" b="0" dirty="0"/>
              <a:t>with and without activity limitation</a:t>
            </a:r>
            <a:br>
              <a:rPr lang="en-IN" sz="2400" b="0" dirty="0"/>
            </a:br>
            <a:r>
              <a:rPr lang="en-IN" sz="2400" dirty="0"/>
              <a:t>Healthcare support: </a:t>
            </a:r>
            <a:r>
              <a:rPr lang="en-IN" sz="2400" b="0" dirty="0"/>
              <a:t>private insurance, free poor cover, free repatriation cover</a:t>
            </a:r>
            <a:br>
              <a:rPr lang="en-IN" sz="2400" b="0" dirty="0"/>
            </a:br>
            <a:r>
              <a:rPr lang="en-IN" sz="2400" dirty="0"/>
              <a:t>Data preparation: </a:t>
            </a:r>
            <a:r>
              <a:rPr lang="en-IN" sz="2400" b="0" dirty="0"/>
              <a:t>removed the index column, checked nulls and duplicates (1,320 duplicates kept as valid survey responses)</a:t>
            </a:r>
            <a:br>
              <a:rPr lang="en-IN" sz="2400" b="0" dirty="0"/>
            </a:br>
            <a:r>
              <a:rPr lang="en-IN" sz="2400" dirty="0"/>
              <a:t>Analysis:</a:t>
            </a:r>
            <a:r>
              <a:rPr lang="en-IN" sz="2400" b="0" dirty="0"/>
              <a:t> univariate, bivariate and multivariate exploration with charts, correlation analysis and a profile of high users (2 or more visits)</a:t>
            </a:r>
            <a:br>
              <a:rPr lang="en-IN" sz="2400" b="0" dirty="0"/>
            </a:br>
            <a:r>
              <a:rPr lang="en-IN" sz="2400" dirty="0"/>
              <a:t>Goal:</a:t>
            </a:r>
            <a:r>
              <a:rPr lang="en-IN" sz="2400" b="0" dirty="0"/>
              <a:t> find the key drivers of doctor visits and the groups that need the most support</a:t>
            </a:r>
            <a:br>
              <a:rPr lang="en-IN" sz="2400" b="0" dirty="0"/>
            </a:br>
            <a:endParaRPr lang="en-IN" sz="2400" b="0" dirty="0"/>
          </a:p>
        </p:txBody>
      </p:sp>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2"/>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9672943" cy="3990023"/>
          </a:xfrm>
        </p:spPr>
        <p:txBody>
          <a:bodyPr>
            <a:normAutofit lnSpcReduction="10000"/>
          </a:bodyPr>
          <a:lstStyle/>
          <a:p>
            <a:pPr algn="just">
              <a:lnSpc>
                <a:spcPct val="100000"/>
              </a:lnSpc>
            </a:pPr>
            <a:r>
              <a:rPr lang="en-IN" sz="3600" dirty="0"/>
              <a:t>Hospitals and clinics</a:t>
            </a:r>
          </a:p>
          <a:p>
            <a:pPr algn="just">
              <a:lnSpc>
                <a:spcPct val="100000"/>
              </a:lnSpc>
            </a:pPr>
            <a:r>
              <a:rPr lang="en-IN" sz="3600" dirty="0"/>
              <a:t>Health insurance companies</a:t>
            </a:r>
          </a:p>
          <a:p>
            <a:pPr algn="just">
              <a:lnSpc>
                <a:spcPct val="100000"/>
              </a:lnSpc>
            </a:pPr>
            <a:r>
              <a:rPr lang="en-IN" sz="3600" dirty="0"/>
              <a:t>Government and public health agencies</a:t>
            </a:r>
          </a:p>
          <a:p>
            <a:pPr algn="just">
              <a:lnSpc>
                <a:spcPct val="100000"/>
              </a:lnSpc>
            </a:pPr>
            <a:r>
              <a:rPr lang="en-IN" sz="3600" dirty="0"/>
              <a:t>Healthcare managers and planners</a:t>
            </a:r>
          </a:p>
          <a:p>
            <a:pPr algn="just">
              <a:lnSpc>
                <a:spcPct val="100000"/>
              </a:lnSpc>
            </a:pPr>
            <a:r>
              <a:rPr lang="en-IN" sz="3600" dirty="0"/>
              <a:t>Care management teams</a:t>
            </a:r>
          </a:p>
          <a:p>
            <a:pPr algn="just">
              <a:lnSpc>
                <a:spcPct val="100000"/>
              </a:lnSpc>
            </a:pPr>
            <a:r>
              <a:rPr lang="en-IN" sz="3600" dirty="0"/>
              <a:t>Researchers and students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74236" y="1432560"/>
            <a:ext cx="7944083" cy="5243448"/>
          </a:xfrm>
        </p:spPr>
        <p:txBody>
          <a:bodyPr>
            <a:normAutofit/>
          </a:bodyPr>
          <a:lstStyle/>
          <a:p>
            <a:pPr lvl="0"/>
            <a:r>
              <a:rPr lang="en-IN" sz="2600" b="1" dirty="0"/>
              <a:t>Language:</a:t>
            </a:r>
            <a:r>
              <a:rPr lang="en-IN" sz="2600" dirty="0"/>
              <a:t> Python</a:t>
            </a:r>
          </a:p>
          <a:p>
            <a:pPr lvl="0"/>
            <a:r>
              <a:rPr lang="en-IN" sz="2600" b="1" dirty="0"/>
              <a:t>Environment:</a:t>
            </a:r>
            <a:r>
              <a:rPr lang="en-IN" sz="2600" dirty="0"/>
              <a:t> Google </a:t>
            </a:r>
            <a:r>
              <a:rPr lang="en-IN" sz="2600" dirty="0" err="1"/>
              <a:t>Colab</a:t>
            </a:r>
            <a:endParaRPr lang="en-IN" sz="2600" dirty="0"/>
          </a:p>
          <a:p>
            <a:pPr lvl="0"/>
            <a:r>
              <a:rPr lang="en-IN" sz="2600" b="1" dirty="0"/>
              <a:t>Libraries:</a:t>
            </a:r>
            <a:r>
              <a:rPr lang="en-IN" sz="2600" dirty="0"/>
              <a:t> </a:t>
            </a:r>
          </a:p>
          <a:p>
            <a:pPr lvl="1"/>
            <a:r>
              <a:rPr lang="en-IN" sz="2600" b="1" dirty="0"/>
              <a:t>Pandas:</a:t>
            </a:r>
            <a:r>
              <a:rPr lang="en-IN" sz="2600" dirty="0"/>
              <a:t> loading, cleaning and grouping the data</a:t>
            </a:r>
          </a:p>
          <a:p>
            <a:pPr lvl="1"/>
            <a:r>
              <a:rPr lang="en-IN" sz="2600" b="1" dirty="0"/>
              <a:t>NumPy:</a:t>
            </a:r>
            <a:r>
              <a:rPr lang="en-IN" sz="2600" dirty="0"/>
              <a:t> numerical operations</a:t>
            </a:r>
          </a:p>
          <a:p>
            <a:pPr lvl="1"/>
            <a:r>
              <a:rPr lang="en-IN" sz="2600" b="1" dirty="0"/>
              <a:t>Matplotlib:</a:t>
            </a:r>
            <a:r>
              <a:rPr lang="en-IN" sz="2600" dirty="0"/>
              <a:t> creating charts</a:t>
            </a:r>
          </a:p>
          <a:p>
            <a:pPr lvl="1"/>
            <a:r>
              <a:rPr lang="en-IN" sz="2600" b="1" dirty="0"/>
              <a:t>Seaborn:</a:t>
            </a:r>
            <a:r>
              <a:rPr lang="en-IN" sz="2600" dirty="0"/>
              <a:t> statistical visualizations</a:t>
            </a:r>
          </a:p>
          <a:p>
            <a:pPr lvl="1">
              <a:lnSpc>
                <a:spcPct val="150000"/>
              </a:lnSpc>
            </a:pPr>
            <a:endParaRPr lang="en-IN" sz="26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animEffect transition="in" filter="fade">
                                      <p:cBhvr>
                                        <p:cTn id="33" dur="1000"/>
                                        <p:tgtEl>
                                          <p:spTgt spid="7">
                                            <p:txEl>
                                              <p:pRg st="3" end="3"/>
                                            </p:txEl>
                                          </p:spTgt>
                                        </p:tgtEl>
                                      </p:cBhvr>
                                    </p:animEffect>
                                    <p:anim calcmode="lin" valueType="num">
                                      <p:cBhvr>
                                        <p:cTn id="34"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7">
                                            <p:txEl>
                                              <p:pRg st="4" end="4"/>
                                            </p:txEl>
                                          </p:spTgt>
                                        </p:tgtEl>
                                        <p:attrNameLst>
                                          <p:attrName>style.visibility</p:attrName>
                                        </p:attrNameLst>
                                      </p:cBhvr>
                                      <p:to>
                                        <p:strVal val="visible"/>
                                      </p:to>
                                    </p:set>
                                    <p:animEffect transition="in" filter="fade">
                                      <p:cBhvr>
                                        <p:cTn id="38" dur="1000"/>
                                        <p:tgtEl>
                                          <p:spTgt spid="7">
                                            <p:txEl>
                                              <p:pRg st="4" end="4"/>
                                            </p:txEl>
                                          </p:spTgt>
                                        </p:tgtEl>
                                      </p:cBhvr>
                                    </p:animEffect>
                                    <p:anim calcmode="lin" valueType="num">
                                      <p:cBhvr>
                                        <p:cTn id="3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animEffect transition="in" filter="fade">
                                      <p:cBhvr>
                                        <p:cTn id="43" dur="1000"/>
                                        <p:tgtEl>
                                          <p:spTgt spid="7">
                                            <p:txEl>
                                              <p:pRg st="5" end="5"/>
                                            </p:txEl>
                                          </p:spTgt>
                                        </p:tgtEl>
                                      </p:cBhvr>
                                    </p:animEffect>
                                    <p:anim calcmode="lin" valueType="num">
                                      <p:cBhvr>
                                        <p:cTn id="44"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7">
                                            <p:txEl>
                                              <p:pRg st="6" end="6"/>
                                            </p:txEl>
                                          </p:spTgt>
                                        </p:tgtEl>
                                        <p:attrNameLst>
                                          <p:attrName>style.visibility</p:attrName>
                                        </p:attrNameLst>
                                      </p:cBhvr>
                                      <p:to>
                                        <p:strVal val="visible"/>
                                      </p:to>
                                    </p:set>
                                    <p:animEffect transition="in" filter="fade">
                                      <p:cBhvr>
                                        <p:cTn id="48" dur="1000"/>
                                        <p:tgtEl>
                                          <p:spTgt spid="7">
                                            <p:txEl>
                                              <p:pRg st="6" end="6"/>
                                            </p:txEl>
                                          </p:spTgt>
                                        </p:tgtEl>
                                      </p:cBhvr>
                                    </p:animEffect>
                                    <p:anim calcmode="lin" valueType="num">
                                      <p:cBhvr>
                                        <p:cTn id="4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pic>
        <p:nvPicPr>
          <p:cNvPr id="6" name="Picture 5">
            <a:extLst>
              <a:ext uri="{FF2B5EF4-FFF2-40B4-BE49-F238E27FC236}">
                <a16:creationId xmlns:a16="http://schemas.microsoft.com/office/drawing/2014/main" id="{84301E7C-35E0-F736-7D54-DE1D6D56997F}"/>
              </a:ext>
            </a:extLst>
          </p:cNvPr>
          <p:cNvPicPr>
            <a:picLocks noChangeAspect="1"/>
          </p:cNvPicPr>
          <p:nvPr/>
        </p:nvPicPr>
        <p:blipFill>
          <a:blip r:embed="rId3"/>
          <a:stretch>
            <a:fillRect/>
          </a:stretch>
        </p:blipFill>
        <p:spPr>
          <a:xfrm>
            <a:off x="675956" y="1403981"/>
            <a:ext cx="6296343" cy="4507218"/>
          </a:xfrm>
          <a:prstGeom prst="rect">
            <a:avLst/>
          </a:prstGeom>
        </p:spPr>
      </p:pic>
      <p:sp>
        <p:nvSpPr>
          <p:cNvPr id="12" name="TextBox 11">
            <a:extLst>
              <a:ext uri="{FF2B5EF4-FFF2-40B4-BE49-F238E27FC236}">
                <a16:creationId xmlns:a16="http://schemas.microsoft.com/office/drawing/2014/main" id="{CCA5D8FE-9C46-6165-F840-6CAE301E4FB0}"/>
              </a:ext>
            </a:extLst>
          </p:cNvPr>
          <p:cNvSpPr txBox="1"/>
          <p:nvPr/>
        </p:nvSpPr>
        <p:spPr>
          <a:xfrm>
            <a:off x="7296053" y="1941449"/>
            <a:ext cx="4441371" cy="3139321"/>
          </a:xfrm>
          <a:prstGeom prst="rect">
            <a:avLst/>
          </a:prstGeom>
          <a:noFill/>
        </p:spPr>
        <p:txBody>
          <a:bodyPr wrap="square">
            <a:spAutoFit/>
          </a:bodyPr>
          <a:lstStyle/>
          <a:p>
            <a:pPr marL="342900" lvl="0" indent="-342900" rtl="0">
              <a:buFont typeface="Arial" panose="020B0604020202020204" pitchFamily="34" charset="0"/>
              <a:buChar char="•"/>
            </a:pPr>
            <a:r>
              <a:rPr lang="en-IN" dirty="0"/>
              <a:t>This chart compares people with no doctor visit against people with at least one.</a:t>
            </a:r>
          </a:p>
          <a:p>
            <a:pPr marL="342900" lvl="0" indent="-342900" rtl="0">
              <a:buFont typeface="Arial" panose="020B0604020202020204" pitchFamily="34" charset="0"/>
              <a:buChar char="•"/>
            </a:pPr>
            <a:r>
              <a:rPr lang="en-IN" dirty="0"/>
              <a:t>4,141 people (79.8%) had no visit, while 1,049 people (20.2%) visited at least once.</a:t>
            </a:r>
          </a:p>
          <a:p>
            <a:pPr marL="342900" lvl="0" indent="-342900" rtl="0">
              <a:buFont typeface="Arial" panose="020B0604020202020204" pitchFamily="34" charset="0"/>
              <a:buChar char="•"/>
            </a:pPr>
            <a:r>
              <a:rPr lang="en-IN" dirty="0"/>
              <a:t>Most people did not visit a doctor in the 2-week period.</a:t>
            </a:r>
          </a:p>
          <a:p>
            <a:pPr marL="342900" lvl="0" indent="-342900" rtl="0">
              <a:buFont typeface="Arial" panose="020B0604020202020204" pitchFamily="34" charset="0"/>
              <a:buChar char="•"/>
            </a:pPr>
            <a:r>
              <a:rPr lang="en-IN" dirty="0"/>
              <a:t>Doctor visits are concentrated in a small group, so planning should focus on that group.</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775A3-D109-4978-C54A-76F12EFEA7E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6952E1E-3824-4784-B031-34CD3FD625C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E0A49D4-45CE-4407-8C7C-86C7D459A96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27262E2-A7BE-297A-D4D2-8A9A9EAB9E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6534E08-C00D-CBA7-DCEE-B9DCD8D0358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A30A819E-C20F-E152-FCA2-F7BD4A749491}"/>
              </a:ext>
            </a:extLst>
          </p:cNvPr>
          <p:cNvSpPr txBox="1"/>
          <p:nvPr/>
        </p:nvSpPr>
        <p:spPr>
          <a:xfrm>
            <a:off x="6503374" y="2054230"/>
            <a:ext cx="4441371" cy="2862322"/>
          </a:xfrm>
          <a:prstGeom prst="rect">
            <a:avLst/>
          </a:prstGeom>
          <a:noFill/>
        </p:spPr>
        <p:txBody>
          <a:bodyPr wrap="square">
            <a:spAutoFit/>
          </a:bodyPr>
          <a:lstStyle/>
          <a:p>
            <a:pPr lvl="0"/>
            <a:r>
              <a:rPr lang="en-IN" dirty="0"/>
              <a:t>This chart shows how average visits change as the number of illnesses increases.</a:t>
            </a:r>
          </a:p>
          <a:p>
            <a:pPr lvl="0"/>
            <a:r>
              <a:rPr lang="en-IN" dirty="0"/>
              <a:t>People with 0 illnesses average only 0.08 visits, while people with 5 illnesses average 0.81.</a:t>
            </a:r>
          </a:p>
          <a:p>
            <a:pPr lvl="0"/>
            <a:r>
              <a:rPr lang="en-IN" dirty="0"/>
              <a:t>Visits rise steadily as illness increases, roughly a 10-fold jump.</a:t>
            </a:r>
          </a:p>
          <a:p>
            <a:pPr lvl="0"/>
            <a:r>
              <a:rPr lang="en-IN" dirty="0"/>
              <a:t>This shows that health need is a major driver of doctor visits.</a:t>
            </a:r>
          </a:p>
        </p:txBody>
      </p:sp>
      <p:pic>
        <p:nvPicPr>
          <p:cNvPr id="2" name="Picture 1">
            <a:extLst>
              <a:ext uri="{FF2B5EF4-FFF2-40B4-BE49-F238E27FC236}">
                <a16:creationId xmlns:a16="http://schemas.microsoft.com/office/drawing/2014/main" id="{A69A2113-54CB-C76C-DAFA-03BECAB1D3B3}"/>
              </a:ext>
            </a:extLst>
          </p:cNvPr>
          <p:cNvPicPr>
            <a:picLocks noChangeAspect="1"/>
          </p:cNvPicPr>
          <p:nvPr/>
        </p:nvPicPr>
        <p:blipFill>
          <a:blip r:embed="rId3"/>
          <a:stretch>
            <a:fillRect/>
          </a:stretch>
        </p:blipFill>
        <p:spPr>
          <a:xfrm>
            <a:off x="503970" y="1348736"/>
            <a:ext cx="5184658" cy="4160528"/>
          </a:xfrm>
          <a:prstGeom prst="rect">
            <a:avLst/>
          </a:prstGeom>
        </p:spPr>
      </p:pic>
    </p:spTree>
    <p:extLst>
      <p:ext uri="{BB962C8B-B14F-4D97-AF65-F5344CB8AC3E}">
        <p14:creationId xmlns:p14="http://schemas.microsoft.com/office/powerpoint/2010/main" val="217448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48270-08BB-C80A-7BDB-A08EF78065C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B4FB1A-4F79-ECCE-0557-8E2AF911BBA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5AA98B6-A476-1E5A-1241-4CDF2985483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60FFDBC-D646-DE58-D551-2EF1B1ACB8B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863C6B6-620B-6139-8097-539C14993D2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ED8BDFA9-EC26-E548-6E4C-CB8FE4CCEEDE}"/>
              </a:ext>
            </a:extLst>
          </p:cNvPr>
          <p:cNvSpPr txBox="1"/>
          <p:nvPr/>
        </p:nvSpPr>
        <p:spPr>
          <a:xfrm>
            <a:off x="6488222" y="2153568"/>
            <a:ext cx="4441371" cy="3139321"/>
          </a:xfrm>
          <a:prstGeom prst="rect">
            <a:avLst/>
          </a:prstGeom>
          <a:noFill/>
        </p:spPr>
        <p:txBody>
          <a:bodyPr wrap="square">
            <a:spAutoFit/>
          </a:bodyPr>
          <a:lstStyle/>
          <a:p>
            <a:pPr lvl="0"/>
            <a:r>
              <a:rPr lang="en-IN" dirty="0"/>
              <a:t>This chart compares days of reduced activity due to illness with average visits.</a:t>
            </a:r>
          </a:p>
          <a:p>
            <a:pPr lvl="0"/>
            <a:r>
              <a:rPr lang="en-IN" dirty="0"/>
              <a:t>People with 0 reduced days average 0.18 visits, while those with 14 days average about 1.5.</a:t>
            </a:r>
          </a:p>
          <a:p>
            <a:pPr lvl="0"/>
            <a:r>
              <a:rPr lang="en-IN" dirty="0"/>
              <a:t>It has the strongest correlation with visits (0.42) among all factors.</a:t>
            </a:r>
          </a:p>
          <a:p>
            <a:pPr lvl="0"/>
            <a:r>
              <a:rPr lang="en-IN" dirty="0"/>
              <a:t>A few high points are noisy because very few people fall in those groups (for example, only 2 people at 11 days).</a:t>
            </a:r>
          </a:p>
        </p:txBody>
      </p:sp>
      <p:pic>
        <p:nvPicPr>
          <p:cNvPr id="2" name="Picture 1">
            <a:extLst>
              <a:ext uri="{FF2B5EF4-FFF2-40B4-BE49-F238E27FC236}">
                <a16:creationId xmlns:a16="http://schemas.microsoft.com/office/drawing/2014/main" id="{7486D3D3-06D5-9953-B764-8984DB4B7E24}"/>
              </a:ext>
            </a:extLst>
          </p:cNvPr>
          <p:cNvPicPr>
            <a:picLocks noChangeAspect="1"/>
          </p:cNvPicPr>
          <p:nvPr/>
        </p:nvPicPr>
        <p:blipFill>
          <a:blip r:embed="rId3"/>
          <a:stretch>
            <a:fillRect/>
          </a:stretch>
        </p:blipFill>
        <p:spPr>
          <a:xfrm>
            <a:off x="871709" y="1348736"/>
            <a:ext cx="5065786" cy="4160528"/>
          </a:xfrm>
          <a:prstGeom prst="rect">
            <a:avLst/>
          </a:prstGeom>
        </p:spPr>
      </p:pic>
    </p:spTree>
    <p:extLst>
      <p:ext uri="{BB962C8B-B14F-4D97-AF65-F5344CB8AC3E}">
        <p14:creationId xmlns:p14="http://schemas.microsoft.com/office/powerpoint/2010/main" val="191277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AA3BD-EC29-60A7-4A83-E494F197812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6E369D-35EB-039C-C3A1-64460A7569D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4E03C91-2BB2-E76A-9240-3D04195728C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FB37873-FF84-8F80-4272-47E7C0BE338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F1C8F1F-73DF-77C1-4C57-45B135A61CC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56656A7C-C6FC-2BF2-10BF-3C04F1FE35BD}"/>
              </a:ext>
            </a:extLst>
          </p:cNvPr>
          <p:cNvSpPr txBox="1"/>
          <p:nvPr/>
        </p:nvSpPr>
        <p:spPr>
          <a:xfrm>
            <a:off x="7296053" y="1941449"/>
            <a:ext cx="4441371" cy="2862322"/>
          </a:xfrm>
          <a:prstGeom prst="rect">
            <a:avLst/>
          </a:prstGeom>
          <a:noFill/>
        </p:spPr>
        <p:txBody>
          <a:bodyPr wrap="square">
            <a:spAutoFit/>
          </a:bodyPr>
          <a:lstStyle/>
          <a:p>
            <a:pPr lvl="0"/>
            <a:r>
              <a:rPr lang="en-IN" dirty="0"/>
              <a:t>This chart compares visits for men and women, with and without a limiting chronic condition.</a:t>
            </a:r>
          </a:p>
          <a:p>
            <a:pPr lvl="0"/>
            <a:r>
              <a:rPr lang="en-IN" dirty="0"/>
              <a:t>A limiting condition raises visits for women from 0.31 to 0.69 and for men from 0.21 to 0.49.</a:t>
            </a:r>
          </a:p>
          <a:p>
            <a:pPr lvl="0"/>
            <a:r>
              <a:rPr lang="en-IN" dirty="0"/>
              <a:t>Women visit more than men in both groups.</a:t>
            </a:r>
          </a:p>
          <a:p>
            <a:pPr lvl="0"/>
            <a:r>
              <a:rPr lang="en-IN" dirty="0"/>
              <a:t>Women with a limiting chronic condition are the highest-use group.</a:t>
            </a:r>
          </a:p>
        </p:txBody>
      </p:sp>
      <p:pic>
        <p:nvPicPr>
          <p:cNvPr id="2" name="Picture 1">
            <a:extLst>
              <a:ext uri="{FF2B5EF4-FFF2-40B4-BE49-F238E27FC236}">
                <a16:creationId xmlns:a16="http://schemas.microsoft.com/office/drawing/2014/main" id="{A8531AF2-0B25-F87F-FB47-638596C78DA3}"/>
              </a:ext>
            </a:extLst>
          </p:cNvPr>
          <p:cNvPicPr>
            <a:picLocks noChangeAspect="1"/>
          </p:cNvPicPr>
          <p:nvPr/>
        </p:nvPicPr>
        <p:blipFill>
          <a:blip r:embed="rId3"/>
          <a:stretch>
            <a:fillRect/>
          </a:stretch>
        </p:blipFill>
        <p:spPr>
          <a:xfrm>
            <a:off x="854958" y="1284940"/>
            <a:ext cx="5605283" cy="4297689"/>
          </a:xfrm>
          <a:prstGeom prst="rect">
            <a:avLst/>
          </a:prstGeom>
        </p:spPr>
      </p:pic>
    </p:spTree>
    <p:extLst>
      <p:ext uri="{BB962C8B-B14F-4D97-AF65-F5344CB8AC3E}">
        <p14:creationId xmlns:p14="http://schemas.microsoft.com/office/powerpoint/2010/main" val="374449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CA92-9307-46CD-C928-0B1B0674817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953D046-127A-D73F-5D40-7F39511DAD8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05312D7-C662-D1F9-C107-A71780A9AD5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0B2B191-668B-5BEB-5BE5-F0D9AF18707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059DBE6-F65B-A2BB-EF00-C3CD6B34400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6586613D-370B-C7E7-12D0-33B4FEC43571}"/>
              </a:ext>
            </a:extLst>
          </p:cNvPr>
          <p:cNvSpPr txBox="1"/>
          <p:nvPr/>
        </p:nvSpPr>
        <p:spPr>
          <a:xfrm>
            <a:off x="6773539" y="2199724"/>
            <a:ext cx="4150717" cy="3416320"/>
          </a:xfrm>
          <a:prstGeom prst="rect">
            <a:avLst/>
          </a:prstGeom>
          <a:noFill/>
        </p:spPr>
        <p:txBody>
          <a:bodyPr wrap="square">
            <a:spAutoFit/>
          </a:bodyPr>
          <a:lstStyle/>
          <a:p>
            <a:pPr lvl="0"/>
            <a:r>
              <a:rPr lang="en-IN" dirty="0"/>
              <a:t>This chart shows how strongly each numeric factor is related to doctor visits.</a:t>
            </a:r>
          </a:p>
          <a:p>
            <a:pPr lvl="0"/>
            <a:r>
              <a:rPr lang="en-IN" dirty="0"/>
              <a:t>Reduced-activity days (0.42), illness (0.22) and health score (0.19) have the strongest links.</a:t>
            </a:r>
          </a:p>
          <a:p>
            <a:pPr lvl="0"/>
            <a:r>
              <a:rPr lang="en-IN" dirty="0"/>
              <a:t>Age has a weak positive link (0.12), and income has a weak negative link (-0.08).</a:t>
            </a:r>
          </a:p>
          <a:p>
            <a:pPr lvl="0"/>
            <a:r>
              <a:rPr lang="en-IN" dirty="0"/>
              <a:t>Health condition matters more than demographics for predicting visits.</a:t>
            </a:r>
          </a:p>
          <a:p>
            <a:pPr lvl="0" rtl="0"/>
            <a:endParaRPr lang="en-IN" dirty="0"/>
          </a:p>
        </p:txBody>
      </p:sp>
      <p:pic>
        <p:nvPicPr>
          <p:cNvPr id="2" name="Picture 1">
            <a:extLst>
              <a:ext uri="{FF2B5EF4-FFF2-40B4-BE49-F238E27FC236}">
                <a16:creationId xmlns:a16="http://schemas.microsoft.com/office/drawing/2014/main" id="{7C9AAFBF-655D-F2E3-D4DA-0536A5EA10D6}"/>
              </a:ext>
            </a:extLst>
          </p:cNvPr>
          <p:cNvPicPr>
            <a:picLocks noChangeAspect="1"/>
          </p:cNvPicPr>
          <p:nvPr/>
        </p:nvPicPr>
        <p:blipFill>
          <a:blip r:embed="rId3"/>
          <a:stretch>
            <a:fillRect/>
          </a:stretch>
        </p:blipFill>
        <p:spPr>
          <a:xfrm>
            <a:off x="745230" y="1097088"/>
            <a:ext cx="5824740" cy="4828042"/>
          </a:xfrm>
          <a:prstGeom prst="rect">
            <a:avLst/>
          </a:prstGeom>
        </p:spPr>
      </p:pic>
    </p:spTree>
    <p:extLst>
      <p:ext uri="{BB962C8B-B14F-4D97-AF65-F5344CB8AC3E}">
        <p14:creationId xmlns:p14="http://schemas.microsoft.com/office/powerpoint/2010/main" val="389329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99E24-8ABE-3FAC-790F-8AF7813CDFE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5928857-834D-2297-1B28-8FDC91EFD4D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AAA3081-C753-186D-C44C-8D0DE8FC07B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6FFF8C8-5745-12BF-B028-13B71E36C7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C68D065-2DDB-0868-C71C-5B5E3B1595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BA161D06-7534-9404-4E9B-CBE67BB6156F}"/>
              </a:ext>
            </a:extLst>
          </p:cNvPr>
          <p:cNvSpPr txBox="1"/>
          <p:nvPr/>
        </p:nvSpPr>
        <p:spPr>
          <a:xfrm>
            <a:off x="6773539" y="2199724"/>
            <a:ext cx="3693075" cy="2862322"/>
          </a:xfrm>
          <a:prstGeom prst="rect">
            <a:avLst/>
          </a:prstGeom>
          <a:noFill/>
        </p:spPr>
        <p:txBody>
          <a:bodyPr wrap="square">
            <a:spAutoFit/>
          </a:bodyPr>
          <a:lstStyle/>
          <a:p>
            <a:pPr lvl="0"/>
            <a:r>
              <a:rPr lang="en-IN" dirty="0"/>
              <a:t>This chart compares average visits across four age groups.</a:t>
            </a:r>
          </a:p>
          <a:p>
            <a:pPr lvl="0"/>
            <a:r>
              <a:rPr lang="en-IN" dirty="0"/>
              <a:t>Visits rise with age: Young 0.21, Adult 0.26, Middle 0.36 and Senior 0.45.</a:t>
            </a:r>
          </a:p>
          <a:p>
            <a:pPr lvl="0"/>
            <a:r>
              <a:rPr lang="en-IN" dirty="0"/>
              <a:t>Seniors visit about 2.2 times as often as the young.</a:t>
            </a:r>
          </a:p>
          <a:p>
            <a:pPr lvl="0"/>
            <a:r>
              <a:rPr lang="en-IN" dirty="0"/>
              <a:t>Older people need more attention, partly because they report more illness.</a:t>
            </a:r>
          </a:p>
        </p:txBody>
      </p:sp>
      <p:pic>
        <p:nvPicPr>
          <p:cNvPr id="3" name="Picture 2">
            <a:extLst>
              <a:ext uri="{FF2B5EF4-FFF2-40B4-BE49-F238E27FC236}">
                <a16:creationId xmlns:a16="http://schemas.microsoft.com/office/drawing/2014/main" id="{1C082E5C-A828-8E8C-8AE4-5DA9F0C2A064}"/>
              </a:ext>
            </a:extLst>
          </p:cNvPr>
          <p:cNvPicPr>
            <a:picLocks noChangeAspect="1"/>
          </p:cNvPicPr>
          <p:nvPr/>
        </p:nvPicPr>
        <p:blipFill>
          <a:blip r:embed="rId3"/>
          <a:stretch>
            <a:fillRect/>
          </a:stretch>
        </p:blipFill>
        <p:spPr>
          <a:xfrm>
            <a:off x="756098" y="1422101"/>
            <a:ext cx="5184658" cy="4160528"/>
          </a:xfrm>
          <a:prstGeom prst="rect">
            <a:avLst/>
          </a:prstGeom>
        </p:spPr>
      </p:pic>
    </p:spTree>
    <p:extLst>
      <p:ext uri="{BB962C8B-B14F-4D97-AF65-F5344CB8AC3E}">
        <p14:creationId xmlns:p14="http://schemas.microsoft.com/office/powerpoint/2010/main" val="316354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7855E-56FE-29AF-A781-3D40A4DC03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80B9D1-CB4A-66DD-4F9B-5109BD8609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A2DF181-04D6-FDF7-713C-8351451E2AB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49F85EA-4F46-6066-0214-5CBFCC5F1E6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F3CB442-4E0C-F958-B704-232CAAFBC10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A960AD89-5DB6-E5D4-C04C-BBB4DC796E35}"/>
              </a:ext>
            </a:extLst>
          </p:cNvPr>
          <p:cNvSpPr txBox="1"/>
          <p:nvPr/>
        </p:nvSpPr>
        <p:spPr>
          <a:xfrm>
            <a:off x="6773539" y="2199724"/>
            <a:ext cx="4150717" cy="2862322"/>
          </a:xfrm>
          <a:prstGeom prst="rect">
            <a:avLst/>
          </a:prstGeom>
          <a:noFill/>
        </p:spPr>
        <p:txBody>
          <a:bodyPr wrap="square">
            <a:spAutoFit/>
          </a:bodyPr>
          <a:lstStyle/>
          <a:p>
            <a:pPr lvl="0"/>
            <a:r>
              <a:rPr lang="en-IN" dirty="0"/>
              <a:t>This chart compares average visits across four income groups.</a:t>
            </a:r>
          </a:p>
          <a:p>
            <a:pPr lvl="0"/>
            <a:r>
              <a:rPr lang="en-IN" dirty="0"/>
              <a:t>The low-income group averages 0.40 visits, compared with 0.22 for the high-income group.</a:t>
            </a:r>
          </a:p>
          <a:p>
            <a:pPr lvl="0"/>
            <a:r>
              <a:rPr lang="en-IN" dirty="0"/>
              <a:t>Visits fall as income rises, and the top two groups are almost the same.</a:t>
            </a:r>
          </a:p>
          <a:p>
            <a:pPr lvl="0"/>
            <a:r>
              <a:rPr lang="en-IN" dirty="0"/>
              <a:t>Lower-income people visit more, again partly because they report more illness.</a:t>
            </a:r>
          </a:p>
        </p:txBody>
      </p:sp>
      <p:pic>
        <p:nvPicPr>
          <p:cNvPr id="3" name="Picture 2">
            <a:extLst>
              <a:ext uri="{FF2B5EF4-FFF2-40B4-BE49-F238E27FC236}">
                <a16:creationId xmlns:a16="http://schemas.microsoft.com/office/drawing/2014/main" id="{112DA20C-2ADC-8DDA-93CC-AA883B2D8139}"/>
              </a:ext>
            </a:extLst>
          </p:cNvPr>
          <p:cNvPicPr>
            <a:picLocks noChangeAspect="1"/>
          </p:cNvPicPr>
          <p:nvPr/>
        </p:nvPicPr>
        <p:blipFill>
          <a:blip r:embed="rId3"/>
          <a:stretch>
            <a:fillRect/>
          </a:stretch>
        </p:blipFill>
        <p:spPr>
          <a:xfrm>
            <a:off x="750520" y="1550621"/>
            <a:ext cx="5266954" cy="4160528"/>
          </a:xfrm>
          <a:prstGeom prst="rect">
            <a:avLst/>
          </a:prstGeom>
        </p:spPr>
      </p:pic>
    </p:spTree>
    <p:extLst>
      <p:ext uri="{BB962C8B-B14F-4D97-AF65-F5344CB8AC3E}">
        <p14:creationId xmlns:p14="http://schemas.microsoft.com/office/powerpoint/2010/main" val="939043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41D86-BFAA-F33A-C80C-343C852F9ED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18CB0EF-BB0B-6BB9-3083-AD9343426C8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E968E13-1605-4627-9226-11D2AD6223C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6E7CC6F-CCD5-F169-D0BE-C42E040EDD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003317B-ABD5-FA00-F5CA-2E2309F66C2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8D2B9C29-432B-E996-831E-432BD16C54D7}"/>
              </a:ext>
            </a:extLst>
          </p:cNvPr>
          <p:cNvSpPr txBox="1"/>
          <p:nvPr/>
        </p:nvSpPr>
        <p:spPr>
          <a:xfrm>
            <a:off x="6773539" y="2199724"/>
            <a:ext cx="3970661" cy="3139321"/>
          </a:xfrm>
          <a:prstGeom prst="rect">
            <a:avLst/>
          </a:prstGeom>
          <a:noFill/>
        </p:spPr>
        <p:txBody>
          <a:bodyPr wrap="square">
            <a:spAutoFit/>
          </a:bodyPr>
          <a:lstStyle/>
          <a:p>
            <a:pPr lvl="0"/>
            <a:r>
              <a:rPr lang="en-IN" dirty="0"/>
              <a:t>This chart compares the average number of visits for women and men.</a:t>
            </a:r>
          </a:p>
          <a:p>
            <a:pPr lvl="0"/>
            <a:r>
              <a:rPr lang="en-IN" dirty="0"/>
              <a:t>Women average 0.36 visits and men average 0.24.</a:t>
            </a:r>
          </a:p>
          <a:p>
            <a:pPr lvl="0"/>
            <a:r>
              <a:rPr lang="en-IN" dirty="0"/>
              <a:t>Women therefore visit about 53% more than men.</a:t>
            </a:r>
          </a:p>
          <a:p>
            <a:pPr lvl="0"/>
            <a:r>
              <a:rPr lang="en-IN" dirty="0"/>
              <a:t>Both genders have a median of 0 visits, so most people in both groups did not visit.</a:t>
            </a:r>
          </a:p>
          <a:p>
            <a:pPr lvl="0" rtl="0"/>
            <a:endParaRPr lang="en-IN" dirty="0"/>
          </a:p>
        </p:txBody>
      </p:sp>
      <p:pic>
        <p:nvPicPr>
          <p:cNvPr id="3" name="Picture 2">
            <a:extLst>
              <a:ext uri="{FF2B5EF4-FFF2-40B4-BE49-F238E27FC236}">
                <a16:creationId xmlns:a16="http://schemas.microsoft.com/office/drawing/2014/main" id="{91064419-61A8-C4BA-1439-73ED02E7CD3D}"/>
              </a:ext>
            </a:extLst>
          </p:cNvPr>
          <p:cNvPicPr>
            <a:picLocks noChangeAspect="1"/>
          </p:cNvPicPr>
          <p:nvPr/>
        </p:nvPicPr>
        <p:blipFill>
          <a:blip r:embed="rId3"/>
          <a:stretch>
            <a:fillRect/>
          </a:stretch>
        </p:blipFill>
        <p:spPr>
          <a:xfrm>
            <a:off x="829046" y="1422101"/>
            <a:ext cx="5266954" cy="4160528"/>
          </a:xfrm>
          <a:prstGeom prst="rect">
            <a:avLst/>
          </a:prstGeom>
        </p:spPr>
      </p:pic>
    </p:spTree>
    <p:extLst>
      <p:ext uri="{BB962C8B-B14F-4D97-AF65-F5344CB8AC3E}">
        <p14:creationId xmlns:p14="http://schemas.microsoft.com/office/powerpoint/2010/main" val="2521380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536931" y="1477906"/>
            <a:ext cx="11340000" cy="700114"/>
          </a:xfrm>
          <a:prstGeom prst="rect">
            <a:avLst/>
          </a:prstGeom>
        </p:spPr>
        <p:txBody>
          <a:bodyPr anchor="ctr">
            <a:noAutofit/>
          </a:bodyPr>
          <a:lstStyle/>
          <a:p>
            <a:pPr algn="ctr"/>
            <a:r>
              <a:rPr lang="en-US" sz="80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extBox 3">
            <a:extLst>
              <a:ext uri="{FF2B5EF4-FFF2-40B4-BE49-F238E27FC236}">
                <a16:creationId xmlns:a16="http://schemas.microsoft.com/office/drawing/2014/main" id="{53B65BF8-7F18-E694-FF18-EC27A7CA0A6F}"/>
              </a:ext>
            </a:extLst>
          </p:cNvPr>
          <p:cNvSpPr txBox="1"/>
          <p:nvPr/>
        </p:nvSpPr>
        <p:spPr>
          <a:xfrm>
            <a:off x="1747519" y="4457285"/>
            <a:ext cx="8297056" cy="369332"/>
          </a:xfrm>
          <a:prstGeom prst="rect">
            <a:avLst/>
          </a:prstGeom>
          <a:noFill/>
        </p:spPr>
        <p:txBody>
          <a:bodyPr wrap="square">
            <a:spAutoFit/>
          </a:bodyPr>
          <a:lstStyle/>
          <a:p>
            <a:r>
              <a:rPr lang="en-IN" dirty="0">
                <a:hlinkClick r:id="rId3"/>
              </a:rPr>
              <a:t>https://github.com/snowlindhanusha/Healthcare-Analytics-for-Doctor-Visits/</a:t>
            </a:r>
            <a:endParaRPr lang="en-IN" dirty="0"/>
          </a:p>
        </p:txBody>
      </p:sp>
      <p:sp>
        <p:nvSpPr>
          <p:cNvPr id="6" name="TextBox 5">
            <a:extLst>
              <a:ext uri="{FF2B5EF4-FFF2-40B4-BE49-F238E27FC236}">
                <a16:creationId xmlns:a16="http://schemas.microsoft.com/office/drawing/2014/main" id="{9D5D9B3B-AB22-264F-A0AC-A8341896EEF2}"/>
              </a:ext>
            </a:extLst>
          </p:cNvPr>
          <p:cNvSpPr txBox="1"/>
          <p:nvPr/>
        </p:nvSpPr>
        <p:spPr>
          <a:xfrm>
            <a:off x="1747566" y="3552446"/>
            <a:ext cx="6100996" cy="400110"/>
          </a:xfrm>
          <a:prstGeom prst="rect">
            <a:avLst/>
          </a:prstGeom>
          <a:noFill/>
        </p:spPr>
        <p:txBody>
          <a:bodyPr wrap="square">
            <a:spAutoFit/>
          </a:bodyPr>
          <a:lstStyle/>
          <a:p>
            <a:r>
              <a:rPr lang="en-IN" sz="2000" b="1" i="1" dirty="0"/>
              <a:t>GITHUB DEMO LINK</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613</TotalTime>
  <Words>789</Words>
  <Application>Microsoft Office PowerPoint</Application>
  <PresentationFormat>Widescreen</PresentationFormat>
  <Paragraphs>69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Healthcare Analytics For Doctor Visit TIRTC</vt:lpstr>
      <vt:lpstr>PROBLEM  STATEMENT</vt:lpstr>
      <vt:lpstr>Project Description  Data: survey of 5,190 people with 12 variables and no missing values Target: number of doctor visits in a 2-week period (0 to 9) Factors studied:  Demographics: age, gender, income Health status: illness count, reduced-activity days, health score Chronic conditions: with and without activity limitation Healthcare support: private insurance, free poor cover, free repatriation cover Data preparation: removed the index column, checked nulls and duplicates (1,320 duplicates kept as valid survey responses) Analysis: univariate, bivariate and multivariate exploration with charts, correlation analysis and a profile of high users (2 or more visits) Goal: find the key drivers of doctor visits and the groups that need the most support </vt:lpstr>
      <vt:lpstr>WHO ARE THE END USERS?</vt:lpstr>
      <vt:lpstr>Technology Used</vt:lpstr>
      <vt:lpstr>RESULTS </vt:lpstr>
      <vt:lpstr>RESULTS </vt:lpstr>
      <vt:lpstr>RESULTS </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Snowlin Dhanusha A</cp:lastModifiedBy>
  <cp:revision>75</cp:revision>
  <dcterms:created xsi:type="dcterms:W3CDTF">2021-07-11T13:13:15Z</dcterms:created>
  <dcterms:modified xsi:type="dcterms:W3CDTF">2026-10-02T09:30:22Z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